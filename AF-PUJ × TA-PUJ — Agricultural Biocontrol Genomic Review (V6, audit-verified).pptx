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3454003" y="3436702"/>
            <a:ext cx="0" cy="409984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97141" y="3436702"/>
            <a:ext cx="0" cy="409984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26952" y="878793"/>
            <a:ext cx="1776785" cy="207169"/>
          </a:xfrm>
          <a:prstGeom prst="roundRect">
            <a:avLst>
              <a:gd name="adj" fmla="val 4593098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01E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323393" y="935943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E8F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914" dirty="0"/>
          </a:p>
        </p:txBody>
      </p:sp>
      <p:sp>
        <p:nvSpPr>
          <p:cNvPr id="8" name="Text 5"/>
          <p:cNvSpPr/>
          <p:nvPr/>
        </p:nvSpPr>
        <p:spPr>
          <a:xfrm>
            <a:off x="2401197" y="918083"/>
            <a:ext cx="15640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PUJ-fungi repository · commit </a:t>
            </a:r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28dad14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4082318" y="878793"/>
            <a:ext cx="1589038" cy="207169"/>
          </a:xfrm>
          <a:prstGeom prst="roundRect">
            <a:avLst>
              <a:gd name="adj" fmla="val 4593098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01E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178759" y="935943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E8F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914" dirty="0"/>
          </a:p>
        </p:txBody>
      </p:sp>
      <p:sp>
        <p:nvSpPr>
          <p:cNvPr id="11" name="Text 8"/>
          <p:cNvSpPr/>
          <p:nvPr/>
        </p:nvSpPr>
        <p:spPr>
          <a:xfrm>
            <a:off x="4264073" y="918083"/>
            <a:ext cx="136125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antiSMASH </a:t>
            </a:r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8.0.4</a:t>
            </a:r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Funannotate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5746366" y="862419"/>
            <a:ext cx="1174254" cy="239916"/>
          </a:xfrm>
          <a:prstGeom prst="roundRect">
            <a:avLst>
              <a:gd name="adj" fmla="val 3966169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01E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846378" y="935943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E8F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14" dirty="0"/>
          </a:p>
        </p:txBody>
      </p:sp>
      <p:sp>
        <p:nvSpPr>
          <p:cNvPr id="14" name="Text 11"/>
          <p:cNvSpPr/>
          <p:nvPr/>
        </p:nvSpPr>
        <p:spPr>
          <a:xfrm>
            <a:off x="5846378" y="918083"/>
            <a:ext cx="97422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re-audited </a:t>
            </a:r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2026-09-08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274320" y="1432433"/>
            <a:ext cx="8595360" cy="4234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925" b="1" spc="-64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Fungi, One Question.</a:t>
            </a:r>
            <a:endParaRPr lang="en-US" sz="2925" dirty="0"/>
          </a:p>
        </p:txBody>
      </p:sp>
      <p:sp>
        <p:nvSpPr>
          <p:cNvPr id="16" name="Text 13"/>
          <p:cNvSpPr/>
          <p:nvPr/>
        </p:nvSpPr>
        <p:spPr>
          <a:xfrm>
            <a:off x="1980163" y="1883271"/>
            <a:ext cx="5183563" cy="457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35"/>
              </a:lnSpc>
              <a:buNone/>
            </a:pPr>
            <a:r>
              <a:rPr lang="en-US" sz="2925" b="1" spc="-64" kern="0" dirty="0">
                <a:solidFill>
                  <a:srgbClr val="0E8F8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Field Ally or Toxigenic Risk?</a:t>
            </a:r>
            <a:endParaRPr lang="en-US" sz="2925" dirty="0"/>
          </a:p>
        </p:txBody>
      </p:sp>
      <p:sp>
        <p:nvSpPr>
          <p:cNvPr id="17" name="Text 14"/>
          <p:cNvSpPr/>
          <p:nvPr/>
        </p:nvSpPr>
        <p:spPr>
          <a:xfrm>
            <a:off x="1714500" y="2492387"/>
            <a:ext cx="571500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AF-PUJ (</a:t>
            </a:r>
            <a:pPr algn="ctr" indent="0" marL="0">
              <a:lnSpc>
                <a:spcPts val="1440"/>
              </a:lnSpc>
              <a:buNone/>
            </a:pPr>
            <a:r>
              <a:rPr lang="en-US" sz="900" i="1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Aspergillus flavus</a:t>
            </a:r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vs. TA-PUJ (</a:t>
            </a:r>
            <a:pPr algn="ctr" indent="0" marL="0">
              <a:lnSpc>
                <a:spcPts val="1440"/>
              </a:lnSpc>
              <a:buNone/>
            </a:pPr>
            <a:r>
              <a:rPr lang="en-US" sz="900" i="1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Trichoderma asperellum</a:t>
            </a:r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— agricultural biocontrol genomic review, AGRI-BIOCONTROL-GENOMIC-SCRUTINY V6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6572" y="3247392"/>
            <a:ext cx="6850856" cy="788603"/>
          </a:xfrm>
          <a:prstGeom prst="roundRect">
            <a:avLst>
              <a:gd name="adj" fmla="val 26572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134567" y="3436702"/>
            <a:ext cx="388591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688" spc="-34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</a:t>
            </a:r>
            <a:endParaRPr lang="en-US" sz="1688" dirty="0"/>
          </a:p>
        </p:txBody>
      </p:sp>
      <p:sp>
        <p:nvSpPr>
          <p:cNvPr id="20" name="Text 17"/>
          <p:cNvSpPr/>
          <p:nvPr/>
        </p:nvSpPr>
        <p:spPr>
          <a:xfrm>
            <a:off x="1618698" y="3722452"/>
            <a:ext cx="1420329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BGC regions inventoried &amp; verified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459672" y="3436702"/>
            <a:ext cx="23180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688" spc="-34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688" dirty="0"/>
          </a:p>
        </p:txBody>
      </p:sp>
      <p:sp>
        <p:nvSpPr>
          <p:cNvPr id="22" name="Text 19"/>
          <p:cNvSpPr/>
          <p:nvPr/>
        </p:nvSpPr>
        <p:spPr>
          <a:xfrm>
            <a:off x="3842145" y="3722452"/>
            <a:ext cx="1466741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Critical audit findings resolved in V6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6489062" y="3436702"/>
            <a:ext cx="659182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688" spc="-34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~230</a:t>
            </a:r>
            <a:endParaRPr lang="en-US" sz="1688" dirty="0"/>
          </a:p>
        </p:txBody>
      </p:sp>
      <p:sp>
        <p:nvSpPr>
          <p:cNvPr id="24" name="Text 21"/>
          <p:cNvSpPr/>
          <p:nvPr/>
        </p:nvSpPr>
        <p:spPr>
          <a:xfrm>
            <a:off x="5918079" y="3722452"/>
            <a:ext cx="1801149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 checks re-run on byte-verified data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0" y="4802386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7C8C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Recap for colleague review · generated from WhyAdr/PUJ-fungi payloads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428625" y="917972"/>
            <a:ext cx="4057650" cy="0"/>
          </a:xfrm>
          <a:prstGeom prst="line">
            <a:avLst/>
          </a:prstGeom>
          <a:noFill/>
          <a:ln w="21431">
            <a:solidFill>
              <a:srgbClr val="0E8F8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82703" y="907256"/>
            <a:ext cx="0" cy="3836194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4739878"/>
            <a:ext cx="40576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2197" y="907256"/>
            <a:ext cx="0" cy="3836194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0081" y="2221818"/>
            <a:ext cx="3614738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0081" y="2820219"/>
            <a:ext cx="3614738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0081" y="3418619"/>
            <a:ext cx="3614738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57725" y="917972"/>
            <a:ext cx="4057650" cy="0"/>
          </a:xfrm>
          <a:prstGeom prst="line">
            <a:avLst/>
          </a:prstGeom>
          <a:noFill/>
          <a:ln w="21431">
            <a:solidFill>
              <a:srgbClr val="E8930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711803" y="907256"/>
            <a:ext cx="0" cy="3836194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57725" y="4739878"/>
            <a:ext cx="40576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1297" y="907256"/>
            <a:ext cx="0" cy="3836194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79181" y="2221818"/>
            <a:ext cx="3614738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79181" y="2820219"/>
            <a:ext cx="3614738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79181" y="3418619"/>
            <a:ext cx="3614738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8625" y="371475"/>
            <a:ext cx="8636000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b="1" spc="-23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Two Isolates at a Glance</a:t>
            </a:r>
            <a:endParaRPr lang="en-US" sz="1913" dirty="0"/>
          </a:p>
        </p:txBody>
      </p:sp>
      <p:sp>
        <p:nvSpPr>
          <p:cNvPr id="19" name="Text 16"/>
          <p:cNvSpPr/>
          <p:nvPr/>
        </p:nvSpPr>
        <p:spPr>
          <a:xfrm>
            <a:off x="428625" y="907256"/>
            <a:ext cx="4057650" cy="3836194"/>
          </a:xfrm>
          <a:prstGeom prst="roundRect">
            <a:avLst>
              <a:gd name="adj" fmla="val 5462"/>
            </a:avLst>
          </a:prstGeom>
          <a:solidFill>
            <a:srgbClr val="FFFFFF">
              <a:alpha val="55000"/>
            </a:srgbClr>
          </a:solidFill>
          <a:ln/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50081" y="1100138"/>
            <a:ext cx="3724466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TA-PUJ · Trichoderma asperellum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650081" y="1424285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0E8F8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57238" y="1393031"/>
            <a:ext cx="3507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83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BIOCONTROL CANDIDATE</a:t>
            </a:r>
            <a:endParaRPr lang="en-US" sz="8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1" y="1619845"/>
            <a:ext cx="3614738" cy="71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50081" y="1866305"/>
            <a:ext cx="11065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1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ASSEMBLY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1507331" y="1849785"/>
            <a:ext cx="2757488" cy="18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20.29 Mb · 1,376 contigs (largest 62.7 kb) · GC 48.68%</a:t>
            </a:r>
            <a:endParaRPr lang="en-US" sz="675" dirty="0"/>
          </a:p>
        </p:txBody>
      </p:sp>
      <p:sp>
        <p:nvSpPr>
          <p:cNvPr id="26" name="Text 22"/>
          <p:cNvSpPr/>
          <p:nvPr/>
        </p:nvSpPr>
        <p:spPr>
          <a:xfrm>
            <a:off x="650081" y="2464705"/>
            <a:ext cx="11658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1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GENES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1507331" y="2448185"/>
            <a:ext cx="2757488" cy="18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5,229 CDS · 134 tRNA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650081" y="3063106"/>
            <a:ext cx="9753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1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BGC REGIONS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507331" y="3046586"/>
            <a:ext cx="2757488" cy="18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→ 8 with MIBiG matches + 13 orphan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50081" y="3661507"/>
            <a:ext cx="9753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1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TRAITS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1507331" y="3572098"/>
            <a:ext cx="2757488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deaminase (TA:PUJ_004816), 14 GH18 chitinases, 7 GH75 chitosanases, FET3–FTR1 iron-scavenging dyad</a:t>
            </a:r>
            <a:endParaRPr lang="en-US" sz="8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81" y="4127748"/>
            <a:ext cx="3614738" cy="45139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53653" y="4131320"/>
            <a:ext cx="3607594" cy="444252"/>
          </a:xfrm>
          <a:prstGeom prst="roundRect">
            <a:avLst>
              <a:gd name="adj" fmla="val 30017"/>
            </a:avLst>
          </a:prstGeom>
          <a:solidFill>
            <a:srgbClr val="FFFFFF">
              <a:alpha val="62000"/>
            </a:srgbClr>
          </a:solidFill>
          <a:ln w="7144">
            <a:solidFill>
              <a:srgbClr val="E8930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771525" y="422776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E893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125" dirty="0"/>
          </a:p>
        </p:txBody>
      </p:sp>
      <p:sp>
        <p:nvSpPr>
          <p:cNvPr id="35" name="Text 30"/>
          <p:cNvSpPr/>
          <p:nvPr/>
        </p:nvSpPr>
        <p:spPr>
          <a:xfrm>
            <a:off x="957263" y="4220617"/>
            <a:ext cx="318611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Draft assembly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≈55–60%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expected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33–40 Mb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absence claims are lower bounds, not proof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(C1)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4657725" y="907256"/>
            <a:ext cx="4057650" cy="3836194"/>
          </a:xfrm>
          <a:prstGeom prst="roundRect">
            <a:avLst>
              <a:gd name="adj" fmla="val 5462"/>
            </a:avLst>
          </a:prstGeom>
          <a:solidFill>
            <a:srgbClr val="FFFFFF">
              <a:alpha val="55000"/>
            </a:srgbClr>
          </a:solidFill>
          <a:ln/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4879181" y="1100138"/>
            <a:ext cx="3724466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AF-PUJ · Aspergillus flavus</a:t>
            </a:r>
            <a:endParaRPr lang="en-US" sz="1238" dirty="0"/>
          </a:p>
        </p:txBody>
      </p:sp>
      <p:sp>
        <p:nvSpPr>
          <p:cNvPr id="38" name="Text 33"/>
          <p:cNvSpPr/>
          <p:nvPr/>
        </p:nvSpPr>
        <p:spPr>
          <a:xfrm>
            <a:off x="4879181" y="1424285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E893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4986338" y="1393031"/>
            <a:ext cx="3507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83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TOXIGENIC — CLOSED-VESSEL USE ONLY</a:t>
            </a:r>
            <a:endParaRPr lang="en-US" sz="80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181" y="1619845"/>
            <a:ext cx="3614738" cy="7144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4879181" y="1866305"/>
            <a:ext cx="11065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1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ASSEMBLY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5736431" y="1849785"/>
            <a:ext cx="2757488" cy="18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36.79 Mb · 97 scaffolds (largest 2.40 Mb) · GC 48.15%</a:t>
            </a:r>
            <a:endParaRPr lang="en-US" sz="675" dirty="0"/>
          </a:p>
        </p:txBody>
      </p:sp>
      <p:sp>
        <p:nvSpPr>
          <p:cNvPr id="43" name="Text 37"/>
          <p:cNvSpPr/>
          <p:nvPr/>
        </p:nvSpPr>
        <p:spPr>
          <a:xfrm>
            <a:off x="4879181" y="2464705"/>
            <a:ext cx="11658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1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GENES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5736431" y="2448185"/>
            <a:ext cx="2757488" cy="18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9,792 CDS · 259 tRNA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4879181" y="3063106"/>
            <a:ext cx="9753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1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BGC REGIONS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5736431" y="3046586"/>
            <a:ext cx="2757488" cy="18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 → 34 with MIBiG matches + 40 orphan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4879181" y="3661507"/>
            <a:ext cx="9753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1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TRAITS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5736431" y="3572098"/>
            <a:ext cx="2757488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PHO phosphate regulon, 154 P450s, 24 GSTs, aerobactin-like NIS siderophore</a:t>
            </a:r>
            <a:endParaRPr lang="en-US" sz="800" dirty="0"/>
          </a:p>
        </p:txBody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9181" y="4127748"/>
            <a:ext cx="3614738" cy="451396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4882753" y="4131320"/>
            <a:ext cx="3607594" cy="444252"/>
          </a:xfrm>
          <a:prstGeom prst="roundRect">
            <a:avLst>
              <a:gd name="adj" fmla="val 30017"/>
            </a:avLst>
          </a:prstGeom>
          <a:solidFill>
            <a:srgbClr val="FFFFFF">
              <a:alpha val="62000"/>
            </a:srgbClr>
          </a:solidFill>
          <a:ln w="7144">
            <a:solidFill>
              <a:srgbClr val="D1495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5000625" y="422776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149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125" dirty="0"/>
          </a:p>
        </p:txBody>
      </p:sp>
      <p:sp>
        <p:nvSpPr>
          <p:cNvPr id="52" name="Text 45"/>
          <p:cNvSpPr/>
          <p:nvPr/>
        </p:nvSpPr>
        <p:spPr>
          <a:xfrm>
            <a:off x="5186363" y="4220617"/>
            <a:ext cx="318611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149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149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confirmed toxigenic BGCs — aflatoxin, CPA, aspirochlorine, aspergillic acid, 3-NPA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650081" y="2927040"/>
            <a:ext cx="7843838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0081" y="3320393"/>
            <a:ext cx="7843838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0081" y="3713634"/>
            <a:ext cx="7843838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8625" y="371475"/>
            <a:ext cx="7020297" cy="393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b="1" spc="-23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V5 → V6</a:t>
            </a:r>
            <a:pPr algn="l" indent="0" marL="0">
              <a:lnSpc>
                <a:spcPts val="2869"/>
              </a:lnSpc>
              <a:buNone/>
            </a:pPr>
            <a:r>
              <a:rPr lang="en-US" sz="1913" b="1" spc="-23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What the Re-Audit Found</a:t>
            </a:r>
            <a:endParaRPr lang="en-US" sz="1913" dirty="0"/>
          </a:p>
        </p:txBody>
      </p:sp>
      <p:sp>
        <p:nvSpPr>
          <p:cNvPr id="8" name="Text 5"/>
          <p:cNvSpPr/>
          <p:nvPr/>
        </p:nvSpPr>
        <p:spPr>
          <a:xfrm>
            <a:off x="7497500" y="419395"/>
            <a:ext cx="1240735" cy="268491"/>
          </a:xfrm>
          <a:prstGeom prst="roundRect">
            <a:avLst>
              <a:gd name="adj" fmla="val 3544057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01E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41803" y="500063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E8F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10" name="Text 7"/>
          <p:cNvSpPr/>
          <p:nvPr/>
        </p:nvSpPr>
        <p:spPr>
          <a:xfrm>
            <a:off x="7791822" y="489347"/>
            <a:ext cx="80210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68" kern="0" dirty="0">
                <a:solidFill>
                  <a:srgbClr val="0E8F8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GOOD SHAPE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432197" y="925116"/>
            <a:ext cx="2659819" cy="1022896"/>
          </a:xfrm>
          <a:prstGeom prst="roundRect">
            <a:avLst>
              <a:gd name="adj" fmla="val 20486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07219" y="1085850"/>
            <a:ext cx="2309775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spc="-40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24/24</a:t>
            </a:r>
            <a:endParaRPr lang="en-US" sz="202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443038"/>
            <a:ext cx="257175" cy="71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7219" y="1535906"/>
            <a:ext cx="2419503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findings addressed in the </a:t>
            </a:r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V6</a:t>
            </a:r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change log</a:t>
            </a:r>
            <a:endParaRPr lang="en-US" sz="675" dirty="0"/>
          </a:p>
        </p:txBody>
      </p:sp>
      <p:sp>
        <p:nvSpPr>
          <p:cNvPr id="15" name="Text 11"/>
          <p:cNvSpPr/>
          <p:nvPr/>
        </p:nvSpPr>
        <p:spPr>
          <a:xfrm>
            <a:off x="3242035" y="925116"/>
            <a:ext cx="2659819" cy="1022896"/>
          </a:xfrm>
          <a:prstGeom prst="roundRect">
            <a:avLst>
              <a:gd name="adj" fmla="val 20486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417057" y="1085850"/>
            <a:ext cx="2309775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spc="-40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95/95</a:t>
            </a:r>
            <a:endParaRPr lang="en-US" sz="2025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057" y="1443038"/>
            <a:ext cx="257175" cy="71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17057" y="1535906"/>
            <a:ext cx="2309775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BGC inventory rows re-verified exactly — lengths, scores, gene hits, identity ranges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6051872" y="925116"/>
            <a:ext cx="2659931" cy="1022896"/>
          </a:xfrm>
          <a:prstGeom prst="roundRect">
            <a:avLst>
              <a:gd name="adj" fmla="val 20486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226894" y="1085850"/>
            <a:ext cx="2309887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spc="-40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95%+</a:t>
            </a:r>
            <a:endParaRPr lang="en-US" sz="2025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894" y="1443038"/>
            <a:ext cx="257175" cy="71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26894" y="1535906"/>
            <a:ext cx="2309887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~230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machine checks pass (Biopython + raw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/db_xref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parsing on byte-verified payloads)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432197" y="2098030"/>
            <a:ext cx="8279606" cy="2166119"/>
          </a:xfrm>
          <a:prstGeom prst="roundRect">
            <a:avLst>
              <a:gd name="adj" fmla="val 9674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650081" y="2258764"/>
            <a:ext cx="7843838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four Critical findings are genuinely resolved</a:t>
            </a:r>
            <a:endParaRPr lang="en-US" sz="1238" dirty="0"/>
          </a:p>
        </p:txBody>
      </p:sp>
      <p:sp>
        <p:nvSpPr>
          <p:cNvPr id="25" name="Text 19"/>
          <p:cNvSpPr/>
          <p:nvPr/>
        </p:nvSpPr>
        <p:spPr>
          <a:xfrm>
            <a:off x="650081" y="26660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E8F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6" name="Text 20"/>
          <p:cNvSpPr/>
          <p:nvPr/>
        </p:nvSpPr>
        <p:spPr>
          <a:xfrm>
            <a:off x="878681" y="2666070"/>
            <a:ext cx="3429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C1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93006" y="2655354"/>
            <a:ext cx="73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TA assembly-completeness caveat added; absence claims downgraded to lower bounds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650081" y="305942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E8F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9" name="Text 23"/>
          <p:cNvSpPr/>
          <p:nvPr/>
        </p:nvSpPr>
        <p:spPr>
          <a:xfrm>
            <a:off x="878681" y="3059423"/>
            <a:ext cx="3429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C2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1193006" y="3048707"/>
            <a:ext cx="73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TA mycotoxin verdict re-tiered: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orphan BGCs + incomplete assembly → LC-MS/MS screen mandated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650081" y="345266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E8F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2" name="Text 26"/>
          <p:cNvSpPr/>
          <p:nvPr/>
        </p:nvSpPr>
        <p:spPr>
          <a:xfrm>
            <a:off x="878681" y="3452664"/>
            <a:ext cx="3429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C3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1193006" y="3441948"/>
            <a:ext cx="73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5,098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cross-genome locus-tag collisions fixed via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TA:/AF: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prefixes throughout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650081" y="384601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E8F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5" name="Text 29"/>
          <p:cNvSpPr/>
          <p:nvPr/>
        </p:nvSpPr>
        <p:spPr>
          <a:xfrm>
            <a:off x="878681" y="3846016"/>
            <a:ext cx="3429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C4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1193006" y="3835301"/>
            <a:ext cx="73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— 3-nitropropanoic acid BGC (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703_c2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) added as 5th toxigenic cluster</a:t>
            </a:r>
            <a:endParaRPr lang="en-US" sz="8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4410596"/>
            <a:ext cx="8286750" cy="34714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32197" y="4414168"/>
            <a:ext cx="8279606" cy="339998"/>
          </a:xfrm>
          <a:prstGeom prst="roundRect">
            <a:avLst>
              <a:gd name="adj" fmla="val 44824"/>
            </a:avLst>
          </a:prstGeom>
          <a:solidFill>
            <a:srgbClr val="FFFFFF">
              <a:alpha val="62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592931" y="45198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E893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266" dirty="0"/>
          </a:p>
        </p:txBody>
      </p:sp>
      <p:sp>
        <p:nvSpPr>
          <p:cNvPr id="40" name="Text 33"/>
          <p:cNvSpPr/>
          <p:nvPr/>
        </p:nvSpPr>
        <p:spPr>
          <a:xfrm>
            <a:off x="807244" y="4517752"/>
            <a:ext cx="7743825" cy="132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Residual: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Major +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Minor one-line errors (wrong locus tags / stale numbers) — none alters a conclusion.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Exact fixes on slide 8.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00050" y="328613"/>
            <a:ext cx="863600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b="1" spc="-23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Key Gene Cluster — Aflatoxin + CPA Super-Cluster</a:t>
            </a:r>
            <a:endParaRPr lang="en-US" sz="1913" dirty="0"/>
          </a:p>
        </p:txBody>
      </p:sp>
      <p:sp>
        <p:nvSpPr>
          <p:cNvPr id="5" name="Text 2"/>
          <p:cNvSpPr/>
          <p:nvPr/>
        </p:nvSpPr>
        <p:spPr>
          <a:xfrm>
            <a:off x="400050" y="728663"/>
            <a:ext cx="8343900" cy="16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Scaffold 1340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loci across 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79.7 kb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rendered with 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dna_features_viewer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(the plotting engine behind 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gbparse neighborhood --visualize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03622" y="984386"/>
            <a:ext cx="8336756" cy="2550319"/>
          </a:xfrm>
          <a:prstGeom prst="roundRect">
            <a:avLst>
              <a:gd name="adj" fmla="val 8217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25066" y="1091543"/>
            <a:ext cx="8093869" cy="2135981"/>
          </a:xfrm>
          <a:prstGeom prst="roundRect">
            <a:avLst>
              <a:gd name="adj" fmla="val 6243"/>
            </a:avLst>
          </a:prstGeom>
          <a:solidFill>
            <a:srgbClr val="FDFEFF"/>
          </a:solidFill>
          <a:ln w="7144">
            <a:solidFill>
              <a:srgbClr val="101E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/tmp/h2p-fit-1788865824267-p91j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8" y="1095115"/>
            <a:ext cx="8086725" cy="21288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1886" y="3341824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E893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1871886" y="3302533"/>
            <a:ext cx="18149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aflatoxin sub-cluster (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loci, 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aflP→aflU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675" dirty="0"/>
          </a:p>
        </p:txBody>
      </p:sp>
      <p:sp>
        <p:nvSpPr>
          <p:cNvPr id="11" name="Text 7"/>
          <p:cNvSpPr/>
          <p:nvPr/>
        </p:nvSpPr>
        <p:spPr>
          <a:xfrm>
            <a:off x="3829720" y="3341824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0E8F8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829720" y="3302533"/>
            <a:ext cx="176082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CPA sub-cluster (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cpaT/cpaO/cpaA/cpaH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675" dirty="0"/>
          </a:p>
        </p:txBody>
      </p:sp>
      <p:sp>
        <p:nvSpPr>
          <p:cNvPr id="13" name="Text 9"/>
          <p:cNvSpPr/>
          <p:nvPr/>
        </p:nvSpPr>
        <p:spPr>
          <a:xfrm>
            <a:off x="5733417" y="3341824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D14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733417" y="3302533"/>
            <a:ext cx="288908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aflR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Zn(II)2Cys6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master regulator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03622" y="3641861"/>
            <a:ext cx="2697882" cy="1014078"/>
          </a:xfrm>
          <a:prstGeom prst="roundRect">
            <a:avLst>
              <a:gd name="adj" fmla="val 20664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50069" y="3884526"/>
            <a:ext cx="240498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spc="-34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94% / 97%</a:t>
            </a:r>
            <a:endParaRPr lang="en-US" sz="1688" dirty="0"/>
          </a:p>
        </p:txBody>
      </p:sp>
      <p:sp>
        <p:nvSpPr>
          <p:cNvPr id="17" name="Text 13"/>
          <p:cNvSpPr/>
          <p:nvPr/>
        </p:nvSpPr>
        <p:spPr>
          <a:xfrm>
            <a:off x="550069" y="4155988"/>
            <a:ext cx="24049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AflR / PksA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identity to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BGC0000007.3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(aflatoxin cluster,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genes, score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16,946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222947" y="3641861"/>
            <a:ext cx="2697993" cy="1014078"/>
          </a:xfrm>
          <a:prstGeom prst="roundRect">
            <a:avLst>
              <a:gd name="adj" fmla="val 20664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369394" y="3948819"/>
            <a:ext cx="24051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spc="-34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4.2 kb</a:t>
            </a:r>
            <a:endParaRPr lang="en-US" sz="1688" dirty="0"/>
          </a:p>
        </p:txBody>
      </p:sp>
      <p:sp>
        <p:nvSpPr>
          <p:cNvPr id="20" name="Text 16"/>
          <p:cNvSpPr/>
          <p:nvPr/>
        </p:nvSpPr>
        <p:spPr>
          <a:xfrm>
            <a:off x="3369394" y="4220282"/>
            <a:ext cx="2405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intergenic boundary between aflatoxin and CPA sub-clusters</a:t>
            </a:r>
            <a:endParaRPr lang="en-US" sz="675" dirty="0"/>
          </a:p>
        </p:txBody>
      </p:sp>
      <p:sp>
        <p:nvSpPr>
          <p:cNvPr id="21" name="Text 17"/>
          <p:cNvSpPr/>
          <p:nvPr/>
        </p:nvSpPr>
        <p:spPr>
          <a:xfrm>
            <a:off x="6042385" y="3641861"/>
            <a:ext cx="2697882" cy="1014078"/>
          </a:xfrm>
          <a:prstGeom prst="roundRect">
            <a:avLst>
              <a:gd name="adj" fmla="val 20664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188832" y="3884526"/>
            <a:ext cx="240498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spc="-34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28–32 kb</a:t>
            </a:r>
            <a:endParaRPr lang="en-US" sz="1688" dirty="0"/>
          </a:p>
        </p:txBody>
      </p:sp>
      <p:sp>
        <p:nvSpPr>
          <p:cNvPr id="23" name="Text 19"/>
          <p:cNvSpPr/>
          <p:nvPr/>
        </p:nvSpPr>
        <p:spPr>
          <a:xfrm>
            <a:off x="6188832" y="4155988"/>
            <a:ext cx="24049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deletion in commercial atoxigenic strains (Aflasafe,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NRRL 21882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— </a:t>
            </a:r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ABSENT in AF-PUJ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the full cluster is present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00050" y="4730948"/>
            <a:ext cx="8343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475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antiSMASH region 1340_c1 = 201,074..280,200 (79,127 bp) · evidence tier T2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621506" y="1779129"/>
            <a:ext cx="4744789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1506" y="2377864"/>
            <a:ext cx="4744789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506" y="2976488"/>
            <a:ext cx="4744789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4402336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11803" y="4398764"/>
            <a:ext cx="0" cy="401836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8625" y="4797028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9341" y="4398764"/>
            <a:ext cx="0" cy="401836"/>
          </a:xfrm>
          <a:prstGeom prst="line">
            <a:avLst/>
          </a:prstGeom>
          <a:noFill/>
          <a:ln w="21431">
            <a:solidFill>
              <a:srgbClr val="D149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64929" y="543037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D14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28625" y="371475"/>
            <a:ext cx="8636000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b="1" spc="-23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Biosafety Gate — Five Confirmed Toxigenic BGCs in AF-PUJ</a:t>
            </a:r>
            <a:endParaRPr lang="en-US" sz="1913" dirty="0"/>
          </a:p>
        </p:txBody>
      </p:sp>
      <p:sp>
        <p:nvSpPr>
          <p:cNvPr id="13" name="Text 10"/>
          <p:cNvSpPr/>
          <p:nvPr/>
        </p:nvSpPr>
        <p:spPr>
          <a:xfrm>
            <a:off x="432197" y="867966"/>
            <a:ext cx="5123408" cy="3412927"/>
          </a:xfrm>
          <a:prstGeom prst="roundRect">
            <a:avLst>
              <a:gd name="adj" fmla="val 6140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4369" y="1014413"/>
            <a:ext cx="19431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TOXIN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935956" y="1014413"/>
            <a:ext cx="10145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MIBIG / RULE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713196" y="1014413"/>
            <a:ext cx="5029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733199" y="1014413"/>
            <a:ext cx="11887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766745" y="1014413"/>
            <a:ext cx="8123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64369" y="1411225"/>
            <a:ext cx="1423321" cy="15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Aflatoxin </a:t>
            </a:r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B1/G1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935956" y="1422276"/>
            <a:ext cx="954462" cy="153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BGC0000007.3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713196" y="1412788"/>
            <a:ext cx="5029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911507" y="1412788"/>
            <a:ext cx="10104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16,946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811048" y="1418146"/>
            <a:ext cx="7680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51–97%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518106" y="1427299"/>
            <a:ext cx="805327" cy="15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7"/>
              </a:lnSpc>
              <a:buNone/>
            </a:pPr>
            <a:r>
              <a:rPr lang="en-US" sz="800" b="1" dirty="0">
                <a:solidFill>
                  <a:srgbClr val="D149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IARC Group 1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64369" y="2013533"/>
            <a:ext cx="1423321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Cyclopiazonic acid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935956" y="2021012"/>
            <a:ext cx="954462" cy="153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BGC0000977.4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713196" y="2011524"/>
            <a:ext cx="5029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733199" y="2011524"/>
            <a:ext cx="11887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9,573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811048" y="2016882"/>
            <a:ext cx="7680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90–97%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636294" y="1973573"/>
            <a:ext cx="687139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27"/>
              </a:lnSpc>
              <a:buNone/>
            </a:pPr>
            <a:r>
              <a:rPr lang="en-US" sz="800" b="1" dirty="0">
                <a:solidFill>
                  <a:srgbClr val="D149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Ca²⁺-ATPase inhibitor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64369" y="2612157"/>
            <a:ext cx="1423321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Aspirochlorine (ETP)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935956" y="2619635"/>
            <a:ext cx="954462" cy="153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BGC0001123.5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713196" y="2610148"/>
            <a:ext cx="5029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911507" y="2610148"/>
            <a:ext cx="10104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17,383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811048" y="2615505"/>
            <a:ext cx="7680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94–100%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36294" y="2572196"/>
            <a:ext cx="687139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27"/>
              </a:lnSpc>
              <a:buNone/>
            </a:pPr>
            <a:r>
              <a:rPr lang="en-US" sz="800" b="1" dirty="0">
                <a:solidFill>
                  <a:srgbClr val="D149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thiol-reactive cytotoxin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64369" y="3210781"/>
            <a:ext cx="1423321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Aspergillic acid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935956" y="3218259"/>
            <a:ext cx="954462" cy="153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BGC0001516.5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713196" y="3208772"/>
            <a:ext cx="5029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733199" y="3208772"/>
            <a:ext cx="11887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6,227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811048" y="3214129"/>
            <a:ext cx="7680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75–100%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518106" y="3223282"/>
            <a:ext cx="805327" cy="15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7"/>
              </a:lnSpc>
              <a:buNone/>
            </a:pPr>
            <a:r>
              <a:rPr lang="en-US" sz="800" b="1" dirty="0">
                <a:solidFill>
                  <a:srgbClr val="D149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hepatotoxin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21506" y="3571540"/>
            <a:ext cx="4744789" cy="591480"/>
          </a:xfrm>
          <a:prstGeom prst="roundRect">
            <a:avLst>
              <a:gd name="adj" fmla="val 16104"/>
            </a:avLst>
          </a:prstGeom>
          <a:solidFill>
            <a:srgbClr val="D1495B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664369" y="3802261"/>
            <a:ext cx="1423321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3-Nitropropanoic acid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935956" y="3809740"/>
            <a:ext cx="954462" cy="153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475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(NpaA &amp; NpaB)</a:t>
            </a:r>
            <a:endParaRPr lang="en-US" sz="647" dirty="0"/>
          </a:p>
        </p:txBody>
      </p:sp>
      <p:sp>
        <p:nvSpPr>
          <p:cNvPr id="46" name="Text 43"/>
          <p:cNvSpPr/>
          <p:nvPr/>
        </p:nvSpPr>
        <p:spPr>
          <a:xfrm>
            <a:off x="2713196" y="3800252"/>
            <a:ext cx="5029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3051181" y="3810967"/>
            <a:ext cx="870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region 17,956 bp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3875856" y="3810967"/>
            <a:ext cx="7032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match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636294" y="3762301"/>
            <a:ext cx="687139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27"/>
              </a:lnSpc>
              <a:buNone/>
            </a:pPr>
            <a:r>
              <a:rPr lang="en-US" sz="800" b="1" dirty="0">
                <a:solidFill>
                  <a:srgbClr val="D149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mitochondrial poison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705624" y="867966"/>
            <a:ext cx="3006068" cy="3412927"/>
          </a:xfrm>
          <a:prstGeom prst="roundRect">
            <a:avLst>
              <a:gd name="adj" fmla="val 6971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866358" y="1075134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D14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5980658" y="1014413"/>
            <a:ext cx="257029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Newest addition — </a:t>
            </a:r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3-NPA (C4)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5869930" y="1947230"/>
            <a:ext cx="2677455" cy="1078706"/>
          </a:xfrm>
          <a:prstGeom prst="roundRect">
            <a:avLst>
              <a:gd name="adj" fmla="val 10596"/>
            </a:avLst>
          </a:prstGeom>
          <a:solidFill>
            <a:srgbClr val="FDFEFF"/>
          </a:solidFill>
          <a:ln w="7144">
            <a:solidFill>
              <a:srgbClr val="101E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4" name="Image 1" descr="/tmp/h2p-fit-1788865830071-mrexg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502" y="1950802"/>
            <a:ext cx="2670311" cy="1071563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5866358" y="3129521"/>
            <a:ext cx="2684599" cy="361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Scaffold 703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403.9–421.8 kb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PUJ_008118–008121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missed in 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V5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now in the LC-MS/MS panel</a:t>
            </a:r>
            <a:endParaRPr lang="en-US" sz="800" dirty="0"/>
          </a:p>
        </p:txBody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398764"/>
            <a:ext cx="8286750" cy="401836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428625" y="4398764"/>
            <a:ext cx="8286750" cy="401836"/>
          </a:xfrm>
          <a:prstGeom prst="roundRect">
            <a:avLst>
              <a:gd name="adj" fmla="val 37926"/>
            </a:avLst>
          </a:prstGeom>
          <a:solidFill>
            <a:srgbClr val="FFFFFF">
              <a:alpha val="62000"/>
            </a:srgbClr>
          </a:solidFill>
          <a:ln/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3"/>
          <p:cNvSpPr/>
          <p:nvPr/>
        </p:nvSpPr>
        <p:spPr>
          <a:xfrm>
            <a:off x="621506" y="452824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149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406" dirty="0"/>
          </a:p>
        </p:txBody>
      </p:sp>
      <p:sp>
        <p:nvSpPr>
          <p:cNvPr id="59" name="Text 54"/>
          <p:cNvSpPr/>
          <p:nvPr/>
        </p:nvSpPr>
        <p:spPr>
          <a:xfrm>
            <a:off x="864394" y="4527352"/>
            <a:ext cx="767238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AF-PUJ is </a:t>
            </a:r>
            <a:pPr algn="l" indent="0" marL="0">
              <a:lnSpc>
                <a:spcPts val="1139"/>
              </a:lnSpc>
              <a:buNone/>
            </a:pPr>
            <a:r>
              <a:rPr lang="en-US" sz="759" b="1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 atoxigenic biocontrol strain. No live field inoculation — closed-vessel fermentation or sterile bioremediation matrices only.</a:t>
            </a:r>
            <a:endParaRPr lang="en-US" sz="75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578644" y="1603772"/>
            <a:ext cx="4194721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8644" y="3025267"/>
            <a:ext cx="4194721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8644" y="3475323"/>
            <a:ext cx="4194721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4324201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11803" y="4320629"/>
            <a:ext cx="0" cy="479971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8625" y="4797028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9341" y="4320629"/>
            <a:ext cx="0" cy="479971"/>
          </a:xfrm>
          <a:prstGeom prst="line">
            <a:avLst/>
          </a:prstGeom>
          <a:noFill/>
          <a:ln w="21431">
            <a:solidFill>
              <a:srgbClr val="E893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8625" y="543037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E8F8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28625" y="371475"/>
            <a:ext cx="8636000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b="1" spc="-23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TA-PUJ — Biocontrol Profile (and Its Caveats)</a:t>
            </a:r>
            <a:endParaRPr lang="en-US" sz="1913" dirty="0"/>
          </a:p>
        </p:txBody>
      </p:sp>
      <p:sp>
        <p:nvSpPr>
          <p:cNvPr id="13" name="Text 10"/>
          <p:cNvSpPr/>
          <p:nvPr/>
        </p:nvSpPr>
        <p:spPr>
          <a:xfrm>
            <a:off x="432197" y="867966"/>
            <a:ext cx="4487614" cy="1207294"/>
          </a:xfrm>
          <a:prstGeom prst="roundRect">
            <a:avLst>
              <a:gd name="adj" fmla="val 17357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78644" y="1010841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E8F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195" dirty="0"/>
          </a:p>
        </p:txBody>
      </p:sp>
      <p:sp>
        <p:nvSpPr>
          <p:cNvPr id="15" name="Text 12"/>
          <p:cNvSpPr/>
          <p:nvPr/>
        </p:nvSpPr>
        <p:spPr>
          <a:xfrm>
            <a:off x="764381" y="985838"/>
            <a:ext cx="400898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Plant growth &amp; stress relief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44" y="1228725"/>
            <a:ext cx="4194721" cy="71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64369" y="137160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E8F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18" name="Text 14"/>
          <p:cNvSpPr/>
          <p:nvPr/>
        </p:nvSpPr>
        <p:spPr>
          <a:xfrm>
            <a:off x="842963" y="1292349"/>
            <a:ext cx="3844677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 deaminase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Tas-acdS (TA:PUJ_004816)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EC 3.5.99.7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IPR005965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-verified, the ethylene-rescue enzyme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64369" y="1728788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E893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055" dirty="0"/>
          </a:p>
        </p:txBody>
      </p:sp>
      <p:sp>
        <p:nvSpPr>
          <p:cNvPr id="20" name="Text 16"/>
          <p:cNvSpPr/>
          <p:nvPr/>
        </p:nvSpPr>
        <p:spPr>
          <a:xfrm>
            <a:off x="842963" y="1649537"/>
            <a:ext cx="3844677" cy="307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IAA auxin synthesis: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T3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literature inference only — Salkowski + LC-MS/MS required (no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YUCCA / ipdC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found)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041255" y="867966"/>
            <a:ext cx="3670436" cy="1207294"/>
          </a:xfrm>
          <a:prstGeom prst="roundRect">
            <a:avLst>
              <a:gd name="adj" fmla="val 17357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187702" y="1010841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E8F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23" name="Text 19"/>
          <p:cNvSpPr/>
          <p:nvPr/>
        </p:nvSpPr>
        <p:spPr>
          <a:xfrm>
            <a:off x="5373439" y="985838"/>
            <a:ext cx="319180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Mycoparasitism arsenal</a:t>
            </a:r>
            <a:endParaRPr lang="en-US" sz="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702" y="1228725"/>
            <a:ext cx="3377543" cy="71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87702" y="1296291"/>
            <a:ext cx="1269802" cy="277420"/>
          </a:xfrm>
          <a:prstGeom prst="roundRect">
            <a:avLst>
              <a:gd name="adj" fmla="val 3429989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01E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5412730" y="1380530"/>
            <a:ext cx="616148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GH18 chitinases</a:t>
            </a:r>
            <a:endParaRPr lang="en-US" sz="647" dirty="0"/>
          </a:p>
        </p:txBody>
      </p:sp>
      <p:sp>
        <p:nvSpPr>
          <p:cNvPr id="27" name="Text 22"/>
          <p:cNvSpPr/>
          <p:nvPr/>
        </p:nvSpPr>
        <p:spPr>
          <a:xfrm>
            <a:off x="5287714" y="1373386"/>
            <a:ext cx="106977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543229" y="1296291"/>
            <a:ext cx="1475184" cy="277420"/>
          </a:xfrm>
          <a:prstGeom prst="roundRect">
            <a:avLst>
              <a:gd name="adj" fmla="val 3429989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01E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727180" y="1380530"/>
            <a:ext cx="698302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GH75 chitosanases</a:t>
            </a:r>
            <a:endParaRPr lang="en-US" sz="647" dirty="0"/>
          </a:p>
        </p:txBody>
      </p:sp>
      <p:sp>
        <p:nvSpPr>
          <p:cNvPr id="30" name="Text 25"/>
          <p:cNvSpPr/>
          <p:nvPr/>
        </p:nvSpPr>
        <p:spPr>
          <a:xfrm>
            <a:off x="6643241" y="1373386"/>
            <a:ext cx="12751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5191274" y="1635919"/>
            <a:ext cx="1262658" cy="244673"/>
          </a:xfrm>
          <a:prstGeom prst="roundRect">
            <a:avLst>
              <a:gd name="adj" fmla="val 3889058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01E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5412730" y="1703784"/>
            <a:ext cx="944761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S8 subtilisin proteases</a:t>
            </a:r>
            <a:endParaRPr lang="en-US" sz="647" dirty="0"/>
          </a:p>
        </p:txBody>
      </p:sp>
      <p:sp>
        <p:nvSpPr>
          <p:cNvPr id="33" name="Text 28"/>
          <p:cNvSpPr/>
          <p:nvPr/>
        </p:nvSpPr>
        <p:spPr>
          <a:xfrm>
            <a:off x="5287714" y="1696641"/>
            <a:ext cx="106977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6546800" y="1635919"/>
            <a:ext cx="1468041" cy="244673"/>
          </a:xfrm>
          <a:prstGeom prst="roundRect">
            <a:avLst>
              <a:gd name="adj" fmla="val 3889058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01E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7055793" y="1703784"/>
            <a:ext cx="862608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RIA dyad (contig_623)</a:t>
            </a:r>
            <a:endParaRPr lang="en-US" sz="647" dirty="0"/>
          </a:p>
        </p:txBody>
      </p:sp>
      <p:sp>
        <p:nvSpPr>
          <p:cNvPr id="36" name="Text 31"/>
          <p:cNvSpPr/>
          <p:nvPr/>
        </p:nvSpPr>
        <p:spPr>
          <a:xfrm>
            <a:off x="6643241" y="1696641"/>
            <a:ext cx="12751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FET3–FTR1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432197" y="2196703"/>
            <a:ext cx="4487614" cy="2285777"/>
          </a:xfrm>
          <a:prstGeom prst="roundRect">
            <a:avLst>
              <a:gd name="adj" fmla="val 9168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578644" y="2339578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E8F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195" dirty="0"/>
          </a:p>
        </p:txBody>
      </p:sp>
      <p:sp>
        <p:nvSpPr>
          <p:cNvPr id="39" name="Text 34"/>
          <p:cNvSpPr/>
          <p:nvPr/>
        </p:nvSpPr>
        <p:spPr>
          <a:xfrm>
            <a:off x="764381" y="2314575"/>
            <a:ext cx="400898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Secondary metabolites (</a:t>
            </a:r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</a:t>
            </a:r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BGC regions)</a:t>
            </a:r>
            <a:endParaRPr lang="en-US" sz="90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44" y="2557463"/>
            <a:ext cx="4194721" cy="7144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64369" y="2733824"/>
            <a:ext cx="402327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enniatin-like ionophore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contig_1710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54%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BGC0000342.4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664369" y="3183880"/>
            <a:ext cx="402327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leucinostatin-like insecticidal depsipeptide</a:t>
            </a:r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contig_1342</a:t>
            </a:r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52–86%</a:t>
            </a:r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</a:t>
            </a:r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BGC0001358.4</a:t>
            </a:r>
            <a:endParaRPr lang="en-US" sz="675" dirty="0"/>
          </a:p>
        </p:txBody>
      </p:sp>
      <p:sp>
        <p:nvSpPr>
          <p:cNvPr id="43" name="Text 37"/>
          <p:cNvSpPr/>
          <p:nvPr/>
        </p:nvSpPr>
        <p:spPr>
          <a:xfrm>
            <a:off x="664369" y="3633825"/>
            <a:ext cx="402327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metachelin siderophore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contig_1419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(scaffold-edge truncation)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578644" y="3921696"/>
            <a:ext cx="4194721" cy="442913"/>
          </a:xfrm>
          <a:prstGeom prst="roundRect">
            <a:avLst>
              <a:gd name="adj" fmla="val 21505"/>
            </a:avLst>
          </a:prstGeom>
          <a:solidFill>
            <a:srgbClr val="0E8F86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664369" y="4076737"/>
            <a:ext cx="402327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of 21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regions have MIBiG matches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5041255" y="2196703"/>
            <a:ext cx="3670436" cy="2285777"/>
          </a:xfrm>
          <a:prstGeom prst="roundRect">
            <a:avLst>
              <a:gd name="adj" fmla="val 9168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5187702" y="2314575"/>
            <a:ext cx="337754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Leucinostatin-like BGC · </a:t>
            </a:r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contig_1342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5191274" y="2561034"/>
            <a:ext cx="3370399" cy="1503313"/>
          </a:xfrm>
          <a:prstGeom prst="roundRect">
            <a:avLst>
              <a:gd name="adj" fmla="val 7603"/>
            </a:avLst>
          </a:prstGeom>
          <a:solidFill>
            <a:srgbClr val="FDFEFF"/>
          </a:solidFill>
          <a:ln w="7144">
            <a:solidFill>
              <a:srgbClr val="101E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9" name="Image 4" descr="/tmp/h2p-fit-1788865829989-f5z6k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4846" y="2564606"/>
            <a:ext cx="3363255" cy="1496169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5187702" y="4125069"/>
            <a:ext cx="3377543" cy="239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PKS (2,143 aa) + NRPS (1,963 aa) + P450 + MFS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classic insecticidal depsipeptide architecture</a:t>
            </a:r>
            <a:endParaRPr lang="en-US" sz="800" dirty="0"/>
          </a:p>
        </p:txBody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4320629"/>
            <a:ext cx="8286750" cy="479971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428625" y="4320629"/>
            <a:ext cx="8286750" cy="479971"/>
          </a:xfrm>
          <a:prstGeom prst="roundRect">
            <a:avLst>
              <a:gd name="adj" fmla="val 31752"/>
            </a:avLst>
          </a:prstGeom>
          <a:solidFill>
            <a:srgbClr val="FFFFFF">
              <a:alpha val="62000"/>
            </a:srgbClr>
          </a:solidFill>
          <a:ln/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5"/>
          <p:cNvSpPr/>
          <p:nvPr/>
        </p:nvSpPr>
        <p:spPr>
          <a:xfrm>
            <a:off x="607219" y="4434929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E893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195" dirty="0"/>
          </a:p>
        </p:txBody>
      </p:sp>
      <p:sp>
        <p:nvSpPr>
          <p:cNvPr id="54" name="Text 46"/>
          <p:cNvSpPr/>
          <p:nvPr/>
        </p:nvSpPr>
        <p:spPr>
          <a:xfrm>
            <a:off x="800100" y="4427786"/>
            <a:ext cx="2561481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of 21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BGC regions are orphans — uncharacterized metabolic potential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3504456" y="4427786"/>
            <a:ext cx="7144" cy="265658"/>
          </a:xfrm>
          <a:prstGeom prst="rect">
            <a:avLst/>
          </a:prstGeom>
          <a:solidFill>
            <a:srgbClr val="101E3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3654475" y="4434929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E893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195" dirty="0"/>
          </a:p>
        </p:txBody>
      </p:sp>
      <p:sp>
        <p:nvSpPr>
          <p:cNvPr id="57" name="Text 49"/>
          <p:cNvSpPr/>
          <p:nvPr/>
        </p:nvSpPr>
        <p:spPr>
          <a:xfrm>
            <a:off x="3847356" y="4427786"/>
            <a:ext cx="470371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Assembly </a:t>
            </a:r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≈55–60%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complete — no peptaibol megasynthetase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≥6,000 aa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assembled, but collapse across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1,376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contigs cannot prove absence (Aib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85-Da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neutral-loss MS/MS mandated)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428625" y="835037"/>
            <a:ext cx="4293059" cy="0"/>
          </a:xfrm>
          <a:prstGeom prst="line">
            <a:avLst/>
          </a:prstGeom>
          <a:noFill/>
          <a:ln w="21431">
            <a:solidFill>
              <a:srgbClr val="0E8F8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18112" y="824322"/>
            <a:ext cx="0" cy="2179179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2999929"/>
            <a:ext cx="4293059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2197" y="824322"/>
            <a:ext cx="0" cy="2179179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64559" y="835037"/>
            <a:ext cx="3850816" cy="0"/>
          </a:xfrm>
          <a:prstGeom prst="line">
            <a:avLst/>
          </a:prstGeom>
          <a:noFill/>
          <a:ln w="21431">
            <a:solidFill>
              <a:srgbClr val="E8930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11803" y="824322"/>
            <a:ext cx="0" cy="2179179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4559" y="2999929"/>
            <a:ext cx="385081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68131" y="824322"/>
            <a:ext cx="0" cy="2179179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8625" y="371475"/>
            <a:ext cx="8636000" cy="28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913" b="1" spc="-34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Deployment Verdict</a:t>
            </a:r>
            <a:endParaRPr lang="en-US" sz="1913" dirty="0"/>
          </a:p>
        </p:txBody>
      </p:sp>
      <p:sp>
        <p:nvSpPr>
          <p:cNvPr id="13" name="Text 10"/>
          <p:cNvSpPr/>
          <p:nvPr/>
        </p:nvSpPr>
        <p:spPr>
          <a:xfrm>
            <a:off x="428625" y="824322"/>
            <a:ext cx="4293059" cy="2179179"/>
          </a:xfrm>
          <a:prstGeom prst="roundRect">
            <a:avLst>
              <a:gd name="adj" fmla="val 9616"/>
            </a:avLst>
          </a:prstGeom>
          <a:solidFill>
            <a:srgbClr val="FFFFFF">
              <a:alpha val="78000"/>
            </a:srgbClr>
          </a:solidFill>
          <a:ln/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18011" y="1056494"/>
            <a:ext cx="4611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7" kern="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TA-PUJ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98786" y="1061851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C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55948" y="1035062"/>
            <a:ext cx="135005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1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field bio-inoculant</a:t>
            </a:r>
            <a:endParaRPr lang="en-US" sz="1013" dirty="0"/>
          </a:p>
        </p:txBody>
      </p:sp>
      <p:sp>
        <p:nvSpPr>
          <p:cNvPr id="17" name="Text 14"/>
          <p:cNvSpPr/>
          <p:nvPr/>
        </p:nvSpPr>
        <p:spPr>
          <a:xfrm>
            <a:off x="2300288" y="1004401"/>
            <a:ext cx="909935" cy="254203"/>
          </a:xfrm>
          <a:prstGeom prst="roundRect">
            <a:avLst>
              <a:gd name="adj" fmla="val 29976"/>
            </a:avLst>
          </a:prstGeom>
          <a:solidFill>
            <a:srgbClr val="0E8F8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300288" y="1017203"/>
            <a:ext cx="9099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17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CANDIDATE</a:t>
            </a:r>
            <a:endParaRPr lang="en-US" sz="1013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06" y="1345816"/>
            <a:ext cx="3907296" cy="71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21506" y="1504429"/>
            <a:ext cx="242888" cy="242888"/>
          </a:xfrm>
          <a:prstGeom prst="roundRect">
            <a:avLst>
              <a:gd name="adj" fmla="val 43137"/>
            </a:avLst>
          </a:prstGeom>
          <a:solidFill>
            <a:srgbClr val="0E8F8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49724" y="153264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E8F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22" name="Text 18"/>
          <p:cNvSpPr/>
          <p:nvPr/>
        </p:nvSpPr>
        <p:spPr>
          <a:xfrm>
            <a:off x="964406" y="1504429"/>
            <a:ext cx="3564396" cy="38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 soil &amp; seed inoculation, mycoparasitism + stress relief profile intact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21506" y="1996008"/>
            <a:ext cx="242888" cy="242888"/>
          </a:xfrm>
          <a:prstGeom prst="roundRect">
            <a:avLst>
              <a:gd name="adj" fmla="val 43137"/>
            </a:avLst>
          </a:prstGeom>
          <a:solidFill>
            <a:srgbClr val="0E8F8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49724" y="202422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E8F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5" name="Text 21"/>
          <p:cNvSpPr/>
          <p:nvPr/>
        </p:nvSpPr>
        <p:spPr>
          <a:xfrm>
            <a:off x="964406" y="1996008"/>
            <a:ext cx="3564396" cy="19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gate: </a:t>
            </a:r>
            <a:pPr algn="l" indent="0" marL="0">
              <a:lnSpc>
                <a:spcPts val="1395"/>
              </a:lnSpc>
              <a:buNone/>
            </a:pPr>
            <a:r>
              <a:rPr lang="en-US" sz="837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Tier-5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metabolite screening before any field pilot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1506" y="2376190"/>
            <a:ext cx="242888" cy="242888"/>
          </a:xfrm>
          <a:prstGeom prst="roundRect">
            <a:avLst>
              <a:gd name="adj" fmla="val 43137"/>
            </a:avLst>
          </a:prstGeom>
          <a:solidFill>
            <a:srgbClr val="0E8F8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49724" y="240440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E8F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266" dirty="0"/>
          </a:p>
        </p:txBody>
      </p:sp>
      <p:sp>
        <p:nvSpPr>
          <p:cNvPr id="28" name="Text 24"/>
          <p:cNvSpPr/>
          <p:nvPr/>
        </p:nvSpPr>
        <p:spPr>
          <a:xfrm>
            <a:off x="964406" y="2376190"/>
            <a:ext cx="3564396" cy="38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re-sequencing / long-read scaffolding + BUSCO (</a:t>
            </a:r>
            <a:pPr algn="l" indent="0" marL="0">
              <a:lnSpc>
                <a:spcPts val="1395"/>
              </a:lnSpc>
              <a:buNone/>
            </a:pPr>
            <a:r>
              <a:rPr lang="en-US" sz="837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hypocreales_odb10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to close the completeness gap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864559" y="824322"/>
            <a:ext cx="3850816" cy="2179179"/>
          </a:xfrm>
          <a:prstGeom prst="roundRect">
            <a:avLst>
              <a:gd name="adj" fmla="val 9616"/>
            </a:avLst>
          </a:prstGeom>
          <a:solidFill>
            <a:srgbClr val="FFFFFF">
              <a:alpha val="55000"/>
            </a:srgbClr>
          </a:solidFill>
          <a:ln/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053945" y="1056494"/>
            <a:ext cx="4611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7" kern="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AF-PUJ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434719" y="1061851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C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591882" y="1035062"/>
            <a:ext cx="194352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1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closed-vessel industrial strain</a:t>
            </a:r>
            <a:endParaRPr lang="en-US" sz="1013" dirty="0"/>
          </a:p>
        </p:txBody>
      </p:sp>
      <p:sp>
        <p:nvSpPr>
          <p:cNvPr id="33" name="Text 29"/>
          <p:cNvSpPr/>
          <p:nvPr/>
        </p:nvSpPr>
        <p:spPr>
          <a:xfrm>
            <a:off x="7455731" y="1004401"/>
            <a:ext cx="496937" cy="254203"/>
          </a:xfrm>
          <a:prstGeom prst="roundRect">
            <a:avLst>
              <a:gd name="adj" fmla="val 29976"/>
            </a:avLst>
          </a:prstGeom>
          <a:solidFill>
            <a:srgbClr val="E8930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7455731" y="1017203"/>
            <a:ext cx="49693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17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</a:t>
            </a:r>
            <a:endParaRPr lang="en-US" sz="1013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440" y="1345816"/>
            <a:ext cx="3465054" cy="714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057440" y="1504429"/>
            <a:ext cx="242888" cy="242888"/>
          </a:xfrm>
          <a:prstGeom prst="roundRect">
            <a:avLst>
              <a:gd name="adj" fmla="val 43137"/>
            </a:avLst>
          </a:prstGeom>
          <a:solidFill>
            <a:srgbClr val="E8930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5085658" y="153264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E893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8" name="Text 33"/>
          <p:cNvSpPr/>
          <p:nvPr/>
        </p:nvSpPr>
        <p:spPr>
          <a:xfrm>
            <a:off x="5400340" y="1504429"/>
            <a:ext cx="3122154" cy="38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enzyme fermentations (cellulases, amylases, phosphatases) with detoxified filtrate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5057440" y="1996008"/>
            <a:ext cx="242888" cy="242888"/>
          </a:xfrm>
          <a:prstGeom prst="roundRect">
            <a:avLst>
              <a:gd name="adj" fmla="val 43137"/>
            </a:avLst>
          </a:prstGeom>
          <a:solidFill>
            <a:srgbClr val="E8930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5085658" y="202422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E893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1" name="Text 36"/>
          <p:cNvSpPr/>
          <p:nvPr/>
        </p:nvSpPr>
        <p:spPr>
          <a:xfrm>
            <a:off x="5400340" y="1996008"/>
            <a:ext cx="3122154" cy="19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sterile, non-food bioremediation matrices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5057440" y="2376190"/>
            <a:ext cx="242888" cy="242888"/>
          </a:xfrm>
          <a:prstGeom prst="roundRect">
            <a:avLst>
              <a:gd name="adj" fmla="val 43137"/>
            </a:avLst>
          </a:prstGeom>
          <a:solidFill>
            <a:srgbClr val="D1495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5085658" y="240440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149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44" name="Text 39"/>
          <p:cNvSpPr/>
          <p:nvPr/>
        </p:nvSpPr>
        <p:spPr>
          <a:xfrm>
            <a:off x="5400340" y="2376190"/>
            <a:ext cx="3122154" cy="38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never live in open agricultural soils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395"/>
              </a:lnSpc>
              <a:buNone/>
            </a:pPr>
            <a:r>
              <a:rPr lang="en-US" sz="837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toxigenic BGCs, intact aflatoxin/CPA cluster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432197" y="3149947"/>
            <a:ext cx="8279606" cy="1647081"/>
          </a:xfrm>
          <a:prstGeom prst="roundRect">
            <a:avLst>
              <a:gd name="adj" fmla="val 12723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607219" y="334282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E8F8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406" dirty="0"/>
          </a:p>
        </p:txBody>
      </p:sp>
      <p:sp>
        <p:nvSpPr>
          <p:cNvPr id="47" name="Text 42"/>
          <p:cNvSpPr/>
          <p:nvPr/>
        </p:nvSpPr>
        <p:spPr>
          <a:xfrm>
            <a:off x="821531" y="3296394"/>
            <a:ext cx="771525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11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5-tier wet-lab validation</a:t>
            </a:r>
            <a:endParaRPr lang="en-US" sz="1238" dirty="0"/>
          </a:p>
        </p:txBody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3625007"/>
            <a:ext cx="7929563" cy="7144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610791" y="3750022"/>
            <a:ext cx="1401514" cy="882700"/>
          </a:xfrm>
          <a:prstGeom prst="roundRect">
            <a:avLst>
              <a:gd name="adj" fmla="val 15107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01E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689115" y="3822317"/>
            <a:ext cx="229114" cy="184023"/>
          </a:xfrm>
          <a:prstGeom prst="roundRect">
            <a:avLst>
              <a:gd name="adj" fmla="val 36232"/>
            </a:avLst>
          </a:prstGeom>
          <a:solidFill>
            <a:srgbClr val="0E8F8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700088" y="3832175"/>
            <a:ext cx="20716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8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T1</a:t>
            </a:r>
            <a:endParaRPr lang="en-US" sz="800" dirty="0"/>
          </a:p>
        </p:txBody>
      </p:sp>
      <p:sp>
        <p:nvSpPr>
          <p:cNvPr id="52" name="Text 46"/>
          <p:cNvSpPr/>
          <p:nvPr/>
        </p:nvSpPr>
        <p:spPr>
          <a:xfrm>
            <a:off x="700088" y="4046488"/>
            <a:ext cx="1296296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dual-culture confrontation (</a:t>
            </a:r>
            <a:pPr algn="l" indent="0" marL="0">
              <a:lnSpc>
                <a:spcPts val="979"/>
              </a:lnSpc>
              <a:buNone/>
            </a:pPr>
            <a:r>
              <a:rPr lang="en-US" sz="800" i="1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F. oxysporum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</a:t>
            </a:r>
            <a:pPr algn="l" indent="0" marL="0">
              <a:lnSpc>
                <a:spcPts val="979"/>
              </a:lnSpc>
              <a:buNone/>
            </a:pPr>
            <a:r>
              <a:rPr lang="en-US" sz="800" i="1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R. solani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2073027" y="4111005"/>
            <a:ext cx="107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7C8C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54" name="Text 48"/>
          <p:cNvSpPr/>
          <p:nvPr/>
        </p:nvSpPr>
        <p:spPr>
          <a:xfrm>
            <a:off x="2240905" y="3750022"/>
            <a:ext cx="1401626" cy="882700"/>
          </a:xfrm>
          <a:prstGeom prst="roundRect">
            <a:avLst>
              <a:gd name="adj" fmla="val 15107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01E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9"/>
          <p:cNvSpPr/>
          <p:nvPr/>
        </p:nvSpPr>
        <p:spPr>
          <a:xfrm>
            <a:off x="2319229" y="3822317"/>
            <a:ext cx="229114" cy="184023"/>
          </a:xfrm>
          <a:prstGeom prst="roundRect">
            <a:avLst>
              <a:gd name="adj" fmla="val 36232"/>
            </a:avLst>
          </a:prstGeom>
          <a:solidFill>
            <a:srgbClr val="0E8F8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2330202" y="3832175"/>
            <a:ext cx="20716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8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T2</a:t>
            </a:r>
            <a:endParaRPr lang="en-US" sz="800" dirty="0"/>
          </a:p>
        </p:txBody>
      </p:sp>
      <p:sp>
        <p:nvSpPr>
          <p:cNvPr id="57" name="Text 51"/>
          <p:cNvSpPr/>
          <p:nvPr/>
        </p:nvSpPr>
        <p:spPr>
          <a:xfrm>
            <a:off x="2330202" y="4046488"/>
            <a:ext cx="1296414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 deaminase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DF-3mM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assay (α-ketobutyrate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@540 nm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58" name="Text 52"/>
          <p:cNvSpPr/>
          <p:nvPr/>
        </p:nvSpPr>
        <p:spPr>
          <a:xfrm>
            <a:off x="3703253" y="4111005"/>
            <a:ext cx="107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7C8C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59" name="Text 53"/>
          <p:cNvSpPr/>
          <p:nvPr/>
        </p:nvSpPr>
        <p:spPr>
          <a:xfrm>
            <a:off x="3871131" y="3750022"/>
            <a:ext cx="1401626" cy="882700"/>
          </a:xfrm>
          <a:prstGeom prst="roundRect">
            <a:avLst>
              <a:gd name="adj" fmla="val 15107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01E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4"/>
          <p:cNvSpPr/>
          <p:nvPr/>
        </p:nvSpPr>
        <p:spPr>
          <a:xfrm>
            <a:off x="3949455" y="3822317"/>
            <a:ext cx="229114" cy="184023"/>
          </a:xfrm>
          <a:prstGeom prst="roundRect">
            <a:avLst>
              <a:gd name="adj" fmla="val 36232"/>
            </a:avLst>
          </a:prstGeom>
          <a:solidFill>
            <a:srgbClr val="0E8F8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5"/>
          <p:cNvSpPr/>
          <p:nvPr/>
        </p:nvSpPr>
        <p:spPr>
          <a:xfrm>
            <a:off x="3960428" y="3832175"/>
            <a:ext cx="20716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8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T3</a:t>
            </a:r>
            <a:endParaRPr lang="en-US" sz="800" dirty="0"/>
          </a:p>
        </p:txBody>
      </p:sp>
      <p:sp>
        <p:nvSpPr>
          <p:cNvPr id="62" name="Text 56"/>
          <p:cNvSpPr/>
          <p:nvPr/>
        </p:nvSpPr>
        <p:spPr>
          <a:xfrm>
            <a:off x="3960428" y="4046488"/>
            <a:ext cx="1296414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CAS siderophore halo (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72 h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675" dirty="0"/>
          </a:p>
        </p:txBody>
      </p:sp>
      <p:sp>
        <p:nvSpPr>
          <p:cNvPr id="63" name="Text 57"/>
          <p:cNvSpPr/>
          <p:nvPr/>
        </p:nvSpPr>
        <p:spPr>
          <a:xfrm>
            <a:off x="5333479" y="4111005"/>
            <a:ext cx="107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7C8C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64" name="Text 58"/>
          <p:cNvSpPr/>
          <p:nvPr/>
        </p:nvSpPr>
        <p:spPr>
          <a:xfrm>
            <a:off x="5501357" y="3750022"/>
            <a:ext cx="1401626" cy="882700"/>
          </a:xfrm>
          <a:prstGeom prst="roundRect">
            <a:avLst>
              <a:gd name="adj" fmla="val 15107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01E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9"/>
          <p:cNvSpPr/>
          <p:nvPr/>
        </p:nvSpPr>
        <p:spPr>
          <a:xfrm>
            <a:off x="5579681" y="3822317"/>
            <a:ext cx="229114" cy="184023"/>
          </a:xfrm>
          <a:prstGeom prst="roundRect">
            <a:avLst>
              <a:gd name="adj" fmla="val 36232"/>
            </a:avLst>
          </a:prstGeom>
          <a:solidFill>
            <a:srgbClr val="0E8F8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0"/>
          <p:cNvSpPr/>
          <p:nvPr/>
        </p:nvSpPr>
        <p:spPr>
          <a:xfrm>
            <a:off x="5590654" y="3832175"/>
            <a:ext cx="20716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8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T4</a:t>
            </a:r>
            <a:endParaRPr lang="en-US" sz="800" dirty="0"/>
          </a:p>
        </p:txBody>
      </p:sp>
      <p:sp>
        <p:nvSpPr>
          <p:cNvPr id="67" name="Text 61"/>
          <p:cNvSpPr/>
          <p:nvPr/>
        </p:nvSpPr>
        <p:spPr>
          <a:xfrm>
            <a:off x="5590654" y="4046488"/>
            <a:ext cx="1223032" cy="159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Pikovskaya phosphate SI</a:t>
            </a:r>
            <a:endParaRPr lang="en-US" sz="675" dirty="0"/>
          </a:p>
        </p:txBody>
      </p:sp>
      <p:sp>
        <p:nvSpPr>
          <p:cNvPr id="68" name="Text 62"/>
          <p:cNvSpPr/>
          <p:nvPr/>
        </p:nvSpPr>
        <p:spPr>
          <a:xfrm>
            <a:off x="6963705" y="4111005"/>
            <a:ext cx="107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7C8C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69" name="Text 63"/>
          <p:cNvSpPr/>
          <p:nvPr/>
        </p:nvSpPr>
        <p:spPr>
          <a:xfrm>
            <a:off x="7131583" y="3750022"/>
            <a:ext cx="1401626" cy="882700"/>
          </a:xfrm>
          <a:prstGeom prst="roundRect">
            <a:avLst>
              <a:gd name="adj" fmla="val 15107"/>
            </a:avLst>
          </a:prstGeom>
          <a:solidFill>
            <a:srgbClr val="FFFFFF">
              <a:alpha val="68000"/>
            </a:srgbClr>
          </a:solidFill>
          <a:ln w="7144">
            <a:solidFill>
              <a:srgbClr val="101E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4"/>
          <p:cNvSpPr/>
          <p:nvPr/>
        </p:nvSpPr>
        <p:spPr>
          <a:xfrm>
            <a:off x="7209907" y="3822317"/>
            <a:ext cx="229114" cy="184023"/>
          </a:xfrm>
          <a:prstGeom prst="roundRect">
            <a:avLst>
              <a:gd name="adj" fmla="val 36232"/>
            </a:avLst>
          </a:prstGeom>
          <a:solidFill>
            <a:srgbClr val="0E8F8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5"/>
          <p:cNvSpPr/>
          <p:nvPr/>
        </p:nvSpPr>
        <p:spPr>
          <a:xfrm>
            <a:off x="7220880" y="3832175"/>
            <a:ext cx="20716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8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T5</a:t>
            </a:r>
            <a:endParaRPr lang="en-US" sz="800" dirty="0"/>
          </a:p>
        </p:txBody>
      </p:sp>
      <p:sp>
        <p:nvSpPr>
          <p:cNvPr id="72" name="Text 66"/>
          <p:cNvSpPr/>
          <p:nvPr/>
        </p:nvSpPr>
        <p:spPr>
          <a:xfrm>
            <a:off x="7220880" y="4046488"/>
            <a:ext cx="1296414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LC-MS/MS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5-toxin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panel + </a:t>
            </a:r>
            <a:pPr algn="l" indent="0" marL="0">
              <a:lnSpc>
                <a:spcPts val="979"/>
              </a:lnSpc>
              <a:buNone/>
            </a:pPr>
            <a:r>
              <a:rPr lang="en-US" sz="800" i="1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Trichoderma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metabolites (peptaibols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Aib-85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harzianum acid, trichothecenes)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564356" y="2140334"/>
            <a:ext cx="4081314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4356" y="2912194"/>
            <a:ext cx="4081314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4356" y="3684054"/>
            <a:ext cx="4081314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102870" y="1754460"/>
            <a:ext cx="3476774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02870" y="2140446"/>
            <a:ext cx="3476774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02870" y="2526320"/>
            <a:ext cx="3476774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02870" y="2912306"/>
            <a:ext cx="3476774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02870" y="3298180"/>
            <a:ext cx="3476774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02870" y="3684166"/>
            <a:ext cx="3476774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870" y="4070040"/>
            <a:ext cx="3476774" cy="0"/>
          </a:xfrm>
          <a:prstGeom prst="line">
            <a:avLst/>
          </a:prstGeom>
          <a:noFill/>
          <a:ln w="7144">
            <a:solidFill>
              <a:srgbClr val="101E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0050" y="328613"/>
            <a:ext cx="8636000" cy="29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2"/>
              </a:lnSpc>
              <a:buNone/>
            </a:pPr>
            <a:r>
              <a:rPr lang="en-US" sz="1913" b="1" spc="-28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Re-Audit Residuals — </a:t>
            </a:r>
            <a:pPr algn="l" indent="0" marL="0">
              <a:lnSpc>
                <a:spcPts val="2142"/>
              </a:lnSpc>
              <a:buNone/>
            </a:pPr>
            <a:r>
              <a:rPr lang="en-US" sz="1760" b="1" spc="-11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pPr algn="l" indent="0" marL="0">
              <a:lnSpc>
                <a:spcPts val="2142"/>
              </a:lnSpc>
              <a:buNone/>
            </a:pPr>
            <a:r>
              <a:rPr lang="en-US" sz="1913" b="1" spc="-28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One-Line Fixes Before </a:t>
            </a:r>
            <a:pPr algn="l" indent="0" marL="0">
              <a:lnSpc>
                <a:spcPts val="2142"/>
              </a:lnSpc>
              <a:buNone/>
            </a:pPr>
            <a:r>
              <a:rPr lang="en-US" sz="1760" b="1" spc="-11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V6.1</a:t>
            </a:r>
            <a:endParaRPr lang="en-US" sz="1913" dirty="0"/>
          </a:p>
        </p:txBody>
      </p:sp>
      <p:sp>
        <p:nvSpPr>
          <p:cNvPr id="15" name="Text 12"/>
          <p:cNvSpPr/>
          <p:nvPr/>
        </p:nvSpPr>
        <p:spPr>
          <a:xfrm>
            <a:off x="400050" y="650639"/>
            <a:ext cx="8343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none alters a conclusion; all verified against the payloads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03622" y="947105"/>
            <a:ext cx="4402782" cy="3594534"/>
          </a:xfrm>
          <a:prstGeom prst="roundRect">
            <a:avLst>
              <a:gd name="adj" fmla="val 5830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64356" y="114713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D14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67695" y="1079264"/>
            <a:ext cx="13908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013" dirty="0"/>
          </a:p>
        </p:txBody>
      </p:sp>
      <p:sp>
        <p:nvSpPr>
          <p:cNvPr id="19" name="Text 16"/>
          <p:cNvSpPr/>
          <p:nvPr/>
        </p:nvSpPr>
        <p:spPr>
          <a:xfrm>
            <a:off x="814388" y="1079264"/>
            <a:ext cx="383128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1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Major</a:t>
            </a:r>
            <a:endParaRPr lang="en-US" sz="1013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6" y="1350727"/>
            <a:ext cx="4081314" cy="71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4356" y="1668450"/>
            <a:ext cx="271463" cy="172022"/>
          </a:xfrm>
          <a:prstGeom prst="roundRect">
            <a:avLst>
              <a:gd name="adj" fmla="val 33222"/>
            </a:avLst>
          </a:prstGeom>
          <a:solidFill>
            <a:srgbClr val="D1495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64356" y="1677665"/>
            <a:ext cx="352901" cy="214468"/>
          </a:xfrm>
          <a:prstGeom prst="rect">
            <a:avLst/>
          </a:prstGeom>
          <a:noFill/>
          <a:ln/>
        </p:spPr>
        <p:txBody>
          <a:bodyPr wrap="none" lIns="0" tIns="14288" rIns="0" bIns="21431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921544" y="1630226"/>
            <a:ext cx="3724126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§8.2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nitrilase list — replace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PUJ_000676/002829/003006/003664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PUJ_001222 / 002797 / 003129 / 004143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(only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002797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carries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EC 3.5.5.1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64356" y="2440198"/>
            <a:ext cx="271463" cy="172022"/>
          </a:xfrm>
          <a:prstGeom prst="roundRect">
            <a:avLst>
              <a:gd name="adj" fmla="val 33222"/>
            </a:avLst>
          </a:prstGeom>
          <a:solidFill>
            <a:srgbClr val="D1495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64356" y="2449413"/>
            <a:ext cx="352901" cy="214468"/>
          </a:xfrm>
          <a:prstGeom prst="rect">
            <a:avLst/>
          </a:prstGeom>
          <a:noFill/>
          <a:ln/>
        </p:spPr>
        <p:txBody>
          <a:bodyPr wrap="none" lIns="0" tIns="14288" rIns="0" bIns="21431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R2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921544" y="2401974"/>
            <a:ext cx="3724126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BCAA row —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AF:PUJ_002717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is Dicer-like dcl1; real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EC 2.6.1.42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hits: TA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003177/003357/004941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), AF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001094/001443/008295/009285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564356" y="3212058"/>
            <a:ext cx="271463" cy="172022"/>
          </a:xfrm>
          <a:prstGeom prst="roundRect">
            <a:avLst>
              <a:gd name="adj" fmla="val 33222"/>
            </a:avLst>
          </a:prstGeom>
          <a:solidFill>
            <a:srgbClr val="D1495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64356" y="3221273"/>
            <a:ext cx="352901" cy="214468"/>
          </a:xfrm>
          <a:prstGeom prst="rect">
            <a:avLst/>
          </a:prstGeom>
          <a:noFill/>
          <a:ln/>
        </p:spPr>
        <p:txBody>
          <a:bodyPr wrap="none" lIns="0" tIns="14288" rIns="0" bIns="21431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R3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921544" y="3236007"/>
            <a:ext cx="3724126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§2.B.6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aspirochlorine GST is 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AF:PUJ_004908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246 aa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), not 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PUJ_004910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422 aa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dipeptidase)</a:t>
            </a:r>
            <a:endParaRPr lang="en-US" sz="675" dirty="0"/>
          </a:p>
        </p:txBody>
      </p:sp>
      <p:sp>
        <p:nvSpPr>
          <p:cNvPr id="30" name="Text 26"/>
          <p:cNvSpPr/>
          <p:nvPr/>
        </p:nvSpPr>
        <p:spPr>
          <a:xfrm>
            <a:off x="564356" y="3983918"/>
            <a:ext cx="271463" cy="172022"/>
          </a:xfrm>
          <a:prstGeom prst="roundRect">
            <a:avLst>
              <a:gd name="adj" fmla="val 33222"/>
            </a:avLst>
          </a:prstGeom>
          <a:solidFill>
            <a:srgbClr val="D1495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64356" y="3993133"/>
            <a:ext cx="352901" cy="214468"/>
          </a:xfrm>
          <a:prstGeom prst="rect">
            <a:avLst/>
          </a:prstGeom>
          <a:noFill/>
          <a:ln/>
        </p:spPr>
        <p:txBody>
          <a:bodyPr wrap="none" lIns="0" tIns="14288" rIns="0" bIns="21431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R4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921544" y="4007867"/>
            <a:ext cx="3724126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m4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scaffold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1340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length is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280,200 bp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not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135,160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4942136" y="947105"/>
            <a:ext cx="3798243" cy="3594534"/>
          </a:xfrm>
          <a:prstGeom prst="roundRect">
            <a:avLst>
              <a:gd name="adj" fmla="val 5830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5102870" y="114713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E893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5206209" y="1079264"/>
            <a:ext cx="13908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013" dirty="0"/>
          </a:p>
        </p:txBody>
      </p:sp>
      <p:sp>
        <p:nvSpPr>
          <p:cNvPr id="36" name="Text 32"/>
          <p:cNvSpPr/>
          <p:nvPr/>
        </p:nvSpPr>
        <p:spPr>
          <a:xfrm>
            <a:off x="5352901" y="1079264"/>
            <a:ext cx="322674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1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Minor</a:t>
            </a:r>
            <a:endParaRPr lang="en-US" sz="1013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870" y="1350727"/>
            <a:ext cx="3476774" cy="7144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102870" y="1475457"/>
            <a:ext cx="271463" cy="172022"/>
          </a:xfrm>
          <a:prstGeom prst="roundRect">
            <a:avLst>
              <a:gd name="adj" fmla="val 33222"/>
            </a:avLst>
          </a:prstGeom>
          <a:solidFill>
            <a:srgbClr val="E8930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5102870" y="1484672"/>
            <a:ext cx="352901" cy="214468"/>
          </a:xfrm>
          <a:prstGeom prst="rect">
            <a:avLst/>
          </a:prstGeom>
          <a:noFill/>
          <a:ln/>
        </p:spPr>
        <p:txBody>
          <a:bodyPr wrap="none" lIns="0" tIns="14288" rIns="0" bIns="21431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R5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5460057" y="1499406"/>
            <a:ext cx="3119586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region 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1340_c1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end = 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280,200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§7B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length 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79,127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right)</a:t>
            </a:r>
            <a:endParaRPr lang="en-US" sz="675" dirty="0"/>
          </a:p>
        </p:txBody>
      </p:sp>
      <p:sp>
        <p:nvSpPr>
          <p:cNvPr id="41" name="Text 36"/>
          <p:cNvSpPr/>
          <p:nvPr/>
        </p:nvSpPr>
        <p:spPr>
          <a:xfrm>
            <a:off x="5102870" y="1861442"/>
            <a:ext cx="271463" cy="172022"/>
          </a:xfrm>
          <a:prstGeom prst="roundRect">
            <a:avLst>
              <a:gd name="adj" fmla="val 33222"/>
            </a:avLst>
          </a:prstGeom>
          <a:solidFill>
            <a:srgbClr val="E8930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5102870" y="1870658"/>
            <a:ext cx="352901" cy="214468"/>
          </a:xfrm>
          <a:prstGeom prst="rect">
            <a:avLst/>
          </a:prstGeom>
          <a:noFill/>
          <a:ln/>
        </p:spPr>
        <p:txBody>
          <a:bodyPr wrap="none" lIns="0" tIns="14288" rIns="0" bIns="21431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R6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5460057" y="1885280"/>
            <a:ext cx="3119586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§9.6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stale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23.9 Mb / 6,009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20.29 Mb / 5,229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5102870" y="2247317"/>
            <a:ext cx="271463" cy="172022"/>
          </a:xfrm>
          <a:prstGeom prst="roundRect">
            <a:avLst>
              <a:gd name="adj" fmla="val 33222"/>
            </a:avLst>
          </a:prstGeom>
          <a:solidFill>
            <a:srgbClr val="E8930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5102870" y="2256532"/>
            <a:ext cx="352901" cy="214468"/>
          </a:xfrm>
          <a:prstGeom prst="rect">
            <a:avLst/>
          </a:prstGeom>
          <a:noFill/>
          <a:ln/>
        </p:spPr>
        <p:txBody>
          <a:bodyPr wrap="none" lIns="0" tIns="14288" rIns="0" bIns="21431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R7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5460057" y="2271266"/>
            <a:ext cx="3119586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re-tier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FET3 / PHO5 / NIS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ECs to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T3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(not in GBK)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5102870" y="2633302"/>
            <a:ext cx="271463" cy="172022"/>
          </a:xfrm>
          <a:prstGeom prst="roundRect">
            <a:avLst>
              <a:gd name="adj" fmla="val 33222"/>
            </a:avLst>
          </a:prstGeom>
          <a:solidFill>
            <a:srgbClr val="E8930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5102870" y="2642518"/>
            <a:ext cx="352901" cy="214468"/>
          </a:xfrm>
          <a:prstGeom prst="rect">
            <a:avLst/>
          </a:prstGeom>
          <a:noFill/>
          <a:ln/>
        </p:spPr>
        <p:txBody>
          <a:bodyPr wrap="none" lIns="0" tIns="14288" rIns="0" bIns="21431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R8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5460057" y="2657140"/>
            <a:ext cx="3119586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m2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glucanase locus =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TA:PUJ_002322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not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002476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5102870" y="3019176"/>
            <a:ext cx="271463" cy="172022"/>
          </a:xfrm>
          <a:prstGeom prst="roundRect">
            <a:avLst>
              <a:gd name="adj" fmla="val 33222"/>
            </a:avLst>
          </a:prstGeom>
          <a:solidFill>
            <a:srgbClr val="E8930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6"/>
          <p:cNvSpPr/>
          <p:nvPr/>
        </p:nvSpPr>
        <p:spPr>
          <a:xfrm>
            <a:off x="5102870" y="3028392"/>
            <a:ext cx="352901" cy="214468"/>
          </a:xfrm>
          <a:prstGeom prst="rect">
            <a:avLst/>
          </a:prstGeom>
          <a:noFill/>
          <a:ln/>
        </p:spPr>
        <p:txBody>
          <a:bodyPr wrap="none" lIns="0" tIns="14288" rIns="0" bIns="21431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R9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5460057" y="3043126"/>
            <a:ext cx="3119586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§8.1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AbT1 =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BGC0000307.4 · 2,072 · 52%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(as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§3.A.7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5102870" y="3405162"/>
            <a:ext cx="271463" cy="172022"/>
          </a:xfrm>
          <a:prstGeom prst="roundRect">
            <a:avLst>
              <a:gd name="adj" fmla="val 33222"/>
            </a:avLst>
          </a:prstGeom>
          <a:solidFill>
            <a:srgbClr val="E8930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9"/>
          <p:cNvSpPr/>
          <p:nvPr/>
        </p:nvSpPr>
        <p:spPr>
          <a:xfrm>
            <a:off x="5102870" y="3414378"/>
            <a:ext cx="352901" cy="214468"/>
          </a:xfrm>
          <a:prstGeom prst="rect">
            <a:avLst/>
          </a:prstGeom>
          <a:noFill/>
          <a:ln/>
        </p:spPr>
        <p:txBody>
          <a:bodyPr wrap="none" lIns="0" tIns="14288" rIns="0" bIns="21431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R10</a:t>
            </a:r>
            <a:endParaRPr lang="en-US" sz="800" dirty="0"/>
          </a:p>
        </p:txBody>
      </p:sp>
      <p:sp>
        <p:nvSpPr>
          <p:cNvPr id="55" name="Text 50"/>
          <p:cNvSpPr/>
          <p:nvPr/>
        </p:nvSpPr>
        <p:spPr>
          <a:xfrm>
            <a:off x="5460057" y="3429000"/>
            <a:ext cx="3119586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glucanase products TA 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AF 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; AF phosphatase-by-product = 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112</a:t>
            </a:r>
            <a:endParaRPr lang="en-US" sz="675" dirty="0"/>
          </a:p>
        </p:txBody>
      </p:sp>
      <p:sp>
        <p:nvSpPr>
          <p:cNvPr id="56" name="Text 51"/>
          <p:cNvSpPr/>
          <p:nvPr/>
        </p:nvSpPr>
        <p:spPr>
          <a:xfrm>
            <a:off x="5102870" y="3791036"/>
            <a:ext cx="271463" cy="172022"/>
          </a:xfrm>
          <a:prstGeom prst="roundRect">
            <a:avLst>
              <a:gd name="adj" fmla="val 33222"/>
            </a:avLst>
          </a:prstGeom>
          <a:solidFill>
            <a:srgbClr val="E8930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2"/>
          <p:cNvSpPr/>
          <p:nvPr/>
        </p:nvSpPr>
        <p:spPr>
          <a:xfrm>
            <a:off x="5102870" y="3800252"/>
            <a:ext cx="352901" cy="214468"/>
          </a:xfrm>
          <a:prstGeom prst="rect">
            <a:avLst/>
          </a:prstGeom>
          <a:noFill/>
          <a:ln/>
        </p:spPr>
        <p:txBody>
          <a:bodyPr wrap="none" lIns="0" tIns="14288" rIns="0" bIns="21431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R11</a:t>
            </a:r>
            <a:endParaRPr lang="en-US" sz="800" dirty="0"/>
          </a:p>
        </p:txBody>
      </p:sp>
      <p:sp>
        <p:nvSpPr>
          <p:cNvPr id="58" name="Text 53"/>
          <p:cNvSpPr/>
          <p:nvPr/>
        </p:nvSpPr>
        <p:spPr>
          <a:xfrm>
            <a:off x="5460057" y="3814986"/>
            <a:ext cx="3119586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§7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type column simplified; AF coords are region-local</a:t>
            </a:r>
            <a:endParaRPr lang="en-US" sz="800" dirty="0"/>
          </a:p>
        </p:txBody>
      </p:sp>
      <p:sp>
        <p:nvSpPr>
          <p:cNvPr id="59" name="Text 54"/>
          <p:cNvSpPr/>
          <p:nvPr/>
        </p:nvSpPr>
        <p:spPr>
          <a:xfrm>
            <a:off x="5102870" y="4176910"/>
            <a:ext cx="271463" cy="172022"/>
          </a:xfrm>
          <a:prstGeom prst="roundRect">
            <a:avLst>
              <a:gd name="adj" fmla="val 33222"/>
            </a:avLst>
          </a:prstGeom>
          <a:solidFill>
            <a:srgbClr val="E8930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5"/>
          <p:cNvSpPr/>
          <p:nvPr/>
        </p:nvSpPr>
        <p:spPr>
          <a:xfrm>
            <a:off x="5102870" y="4186126"/>
            <a:ext cx="352901" cy="214468"/>
          </a:xfrm>
          <a:prstGeom prst="rect">
            <a:avLst/>
          </a:prstGeom>
          <a:noFill/>
          <a:ln/>
        </p:spPr>
        <p:txBody>
          <a:bodyPr wrap="none" lIns="0" tIns="14288" rIns="0" bIns="21431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7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R12</a:t>
            </a:r>
            <a:endParaRPr lang="en-US" sz="800" dirty="0"/>
          </a:p>
        </p:txBody>
      </p:sp>
      <p:sp>
        <p:nvSpPr>
          <p:cNvPr id="61" name="Text 56"/>
          <p:cNvSpPr/>
          <p:nvPr/>
        </p:nvSpPr>
        <p:spPr>
          <a:xfrm>
            <a:off x="5460057" y="4200860"/>
            <a:ext cx="3119586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PUJ_000117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4-module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claim is inference → 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T3</a:t>
            </a:r>
            <a:endParaRPr lang="en-US" sz="800" dirty="0"/>
          </a:p>
        </p:txBody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4659511"/>
            <a:ext cx="8343900" cy="7144"/>
          </a:xfrm>
          <a:prstGeom prst="rect">
            <a:avLst/>
          </a:prstGeom>
        </p:spPr>
      </p:pic>
      <p:sp>
        <p:nvSpPr>
          <p:cNvPr id="63" name="Text 57"/>
          <p:cNvSpPr/>
          <p:nvPr/>
        </p:nvSpPr>
        <p:spPr>
          <a:xfrm>
            <a:off x="400050" y="4730948"/>
            <a:ext cx="8343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details: </a:t>
            </a:r>
            <a:pPr algn="l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reaudit-v6-verification-report.md</a:t>
            </a:r>
            <a:pPr algn="l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evidence JSONs in </a:t>
            </a:r>
            <a:pPr algn="l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pPr algn="l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scripts in </a:t>
            </a:r>
            <a:pPr algn="l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178235" y="1165213"/>
            <a:ext cx="2787419" cy="2979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563"/>
              </a:lnSpc>
              <a:buNone/>
            </a:pPr>
            <a:r>
              <a:rPr lang="en-US" sz="1913" b="1" spc="-23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Trust the directory.</a:t>
            </a:r>
            <a:endParaRPr lang="en-US" sz="1913" dirty="0"/>
          </a:p>
        </p:txBody>
      </p:sp>
      <p:sp>
        <p:nvSpPr>
          <p:cNvPr id="5" name="Text 2"/>
          <p:cNvSpPr/>
          <p:nvPr/>
        </p:nvSpPr>
        <p:spPr>
          <a:xfrm>
            <a:off x="3178235" y="1490588"/>
            <a:ext cx="2787419" cy="2979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563"/>
              </a:lnSpc>
              <a:buNone/>
            </a:pPr>
            <a:r>
              <a:rPr lang="en-US" sz="1913" b="1" spc="-23" kern="0" dirty="0">
                <a:solidFill>
                  <a:srgbClr val="101E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Doubt the deletions.</a:t>
            </a:r>
            <a:endParaRPr lang="en-US" sz="1913" dirty="0"/>
          </a:p>
        </p:txBody>
      </p:sp>
      <p:sp>
        <p:nvSpPr>
          <p:cNvPr id="6" name="Text 3"/>
          <p:cNvSpPr/>
          <p:nvPr/>
        </p:nvSpPr>
        <p:spPr>
          <a:xfrm>
            <a:off x="3178235" y="1815964"/>
            <a:ext cx="2787419" cy="351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63"/>
              </a:lnSpc>
              <a:buNone/>
            </a:pPr>
            <a:r>
              <a:rPr lang="en-US" sz="1913" b="1" spc="-23" kern="0" dirty="0">
                <a:solidFill>
                  <a:srgbClr val="0E8F8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 before you sow.</a:t>
            </a:r>
            <a:endParaRPr lang="en-US" sz="1913" dirty="0"/>
          </a:p>
        </p:txBody>
      </p:sp>
      <p:sp>
        <p:nvSpPr>
          <p:cNvPr id="7" name="Text 4"/>
          <p:cNvSpPr/>
          <p:nvPr/>
        </p:nvSpPr>
        <p:spPr>
          <a:xfrm>
            <a:off x="860822" y="2430661"/>
            <a:ext cx="2393156" cy="682228"/>
          </a:xfrm>
          <a:prstGeom prst="roundRect">
            <a:avLst>
              <a:gd name="adj" fmla="val 25131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855924" y="2593181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0E8F8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900212" y="2548533"/>
            <a:ext cx="4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spc="23" kern="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TA-PUJ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992981" y="2744986"/>
            <a:ext cx="21288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promising field candidate, pending metabolite screen + re-assembly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375422" y="2430661"/>
            <a:ext cx="2393156" cy="682228"/>
          </a:xfrm>
          <a:prstGeom prst="roundRect">
            <a:avLst>
              <a:gd name="adj" fmla="val 25131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370524" y="2593181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E893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414812" y="2548533"/>
            <a:ext cx="4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spc="23" kern="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AF-PUJ</a:t>
            </a:r>
            <a:endParaRPr lang="en-US" sz="731" dirty="0"/>
          </a:p>
        </p:txBody>
      </p:sp>
      <p:sp>
        <p:nvSpPr>
          <p:cNvPr id="14" name="Text 11"/>
          <p:cNvSpPr/>
          <p:nvPr/>
        </p:nvSpPr>
        <p:spPr>
          <a:xfrm>
            <a:off x="3730935" y="2744986"/>
            <a:ext cx="16820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toxigenic; industrial closed-vessel value only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890022" y="2430661"/>
            <a:ext cx="2393156" cy="682228"/>
          </a:xfrm>
          <a:prstGeom prst="roundRect">
            <a:avLst>
              <a:gd name="adj" fmla="val 25131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323850" dist="95250" dir="5400000">
              <a:srgbClr val="101E30">
                <a:alpha val="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983685" y="2593181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6478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048068" y="2548533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23" kern="0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V6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206914" y="2823567"/>
            <a:ext cx="159662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audit-verified core, residual one-liners →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878990" y="2812405"/>
            <a:ext cx="147665" cy="16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2"/>
              </a:lnSpc>
              <a:buNone/>
            </a:pPr>
            <a:r>
              <a:rPr lang="en-US" sz="641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641" dirty="0"/>
          </a:p>
        </p:txBody>
      </p:sp>
      <p:sp>
        <p:nvSpPr>
          <p:cNvPr id="20" name="Text 17"/>
          <p:cNvSpPr/>
          <p:nvPr/>
        </p:nvSpPr>
        <p:spPr>
          <a:xfrm>
            <a:off x="7756347" y="2812405"/>
            <a:ext cx="257135" cy="16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2"/>
              </a:lnSpc>
              <a:buNone/>
            </a:pPr>
            <a:r>
              <a:rPr lang="en-US" sz="641" dirty="0">
                <a:solidFill>
                  <a:srgbClr val="101E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V6.1</a:t>
            </a:r>
            <a:endParaRPr lang="en-US" sz="641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3359348"/>
            <a:ext cx="6429375" cy="71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357313" y="3466505"/>
            <a:ext cx="6429375" cy="100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4"/>
              </a:lnSpc>
              <a:buNone/>
            </a:pPr>
            <a:r>
              <a:rPr lang="en-US" sz="600" spc="6" kern="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</a:t>
            </a:r>
            <a:pPr algn="ctr" indent="0" marL="0">
              <a:lnSpc>
                <a:spcPts val="1004"/>
              </a:lnSpc>
              <a:buNone/>
            </a:pPr>
            <a:r>
              <a:rPr lang="en-US" sz="600" spc="6" kern="0" dirty="0">
                <a:solidFill>
                  <a:srgbClr val="475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AF gbk d3fb74bf367092e6 · 83,318,907 B — TA in c07f6c6e379fec38 · 45,029,346 B — TA antiSMASH b27db6f44d8fe3e7 · 44,880,695 B</a:t>
            </a:r>
            <a:endParaRPr lang="en-US" sz="600" dirty="0"/>
          </a:p>
        </p:txBody>
      </p:sp>
      <p:sp>
        <p:nvSpPr>
          <p:cNvPr id="23" name="Text 19"/>
          <p:cNvSpPr/>
          <p:nvPr/>
        </p:nvSpPr>
        <p:spPr>
          <a:xfrm>
            <a:off x="1357313" y="3593976"/>
            <a:ext cx="6429375" cy="18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4"/>
              </a:lnSpc>
              <a:buNone/>
            </a:pPr>
            <a:r>
              <a:rPr lang="en-US" sz="800" spc="6" kern="0" dirty="0">
                <a:solidFill>
                  <a:srgbClr val="101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</a:t>
            </a:r>
            <a:pPr algn="ctr" indent="0" marL="0">
              <a:lnSpc>
                <a:spcPts val="1004"/>
              </a:lnSpc>
              <a:buNone/>
            </a:pPr>
            <a:r>
              <a:rPr lang="en-US" sz="800" spc="6" kern="0" dirty="0">
                <a:solidFill>
                  <a:srgbClr val="475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Funannotate 1.8.17 · antiSMASH 8.0.4 · MIBiG · Biopython 1.84 · gbparse 0.8.1 + dna_features_viewer 3.1.5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297399" y="3864322"/>
            <a:ext cx="2549091" cy="16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600" spc="17" kern="0" dirty="0">
                <a:solidFill>
                  <a:srgbClr val="7C8C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PUJ-fungi · Mbak Pujiati research program · recap generated </a:t>
            </a:r>
            <a:pPr algn="ctr" indent="0" marL="0">
              <a:lnSpc>
                <a:spcPts val="886"/>
              </a:lnSpc>
              <a:buNone/>
            </a:pPr>
            <a:r>
              <a:rPr lang="en-US" sz="600" spc="17" kern="0" dirty="0">
                <a:solidFill>
                  <a:srgbClr val="7C8C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2026-09-08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2026-09-08T11:10:35Z</dcterms:created>
  <dcterms:modified xsi:type="dcterms:W3CDTF">2026-09-08T11:10:35Z</dcterms:modified>
</cp:coreProperties>
</file>